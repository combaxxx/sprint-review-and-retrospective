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B5615-3959-4462-9C70-747958F55FE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4B3E5-C1EF-43F7-9E8B-8DD145304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60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evaluates the Scrum-Agile pilot conducted during the SNHU Travel project and compares it with the traditional waterfall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4B3E5-C1EF-43F7-9E8B-8DD145304B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</a:t>
            </a:r>
            <a:br>
              <a:rPr lang="en-US" dirty="0"/>
            </a:br>
            <a:r>
              <a:rPr lang="en-US" dirty="0"/>
              <a:t>According to the Scrum Guide (Schwaber &amp; Sutherland, 2020), these roles create accountability and shared ownership. Clear role definitions improved efficiency and collaboration during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4B3E5-C1EF-43F7-9E8B-8DD145304B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51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linear models, Agile cycles through development phases repeatedly. Each sprint delivers usable product increments.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4B3E5-C1EF-43F7-9E8B-8DD145304B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06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SNHU Travel requested promotional discounts mid-project, Agile allowed reprioritization. In waterfall, this would have required redesigning earlier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4B3E5-C1EF-43F7-9E8B-8DD145304B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68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Agile is best for evolving, customer-centered projects. Waterfall works better when requirements are fixed and compliance-heavy.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4B3E5-C1EF-43F7-9E8B-8DD145304B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59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pilot indicates that transitioning to Scrum-Agile could improve innovation and responsiveness across </a:t>
            </a:r>
            <a:r>
              <a:rPr lang="en-US" dirty="0" err="1"/>
              <a:t>ChadaTech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4B3E5-C1EF-43F7-9E8B-8DD145304B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70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5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54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8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514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7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0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38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2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28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87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85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97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245EA-1B43-538F-0B8B-694463548D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53" r="9091" b="85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871A42-9458-7BF5-B282-6B57EF36C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 anchor="t">
            <a:normAutofit/>
          </a:bodyPr>
          <a:lstStyle/>
          <a:p>
            <a:r>
              <a:rPr lang="en-US" sz="6800"/>
              <a:t>Was Scrum-agile worth it?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2A056-2BC5-687A-2BC2-F96BD057A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787" y="5050632"/>
            <a:ext cx="3793200" cy="1129888"/>
          </a:xfrm>
        </p:spPr>
        <p:txBody>
          <a:bodyPr anchor="b">
            <a:normAutofit/>
          </a:bodyPr>
          <a:lstStyle/>
          <a:p>
            <a:r>
              <a:rPr lang="en-US" sz="2200" dirty="0"/>
              <a:t>SNHU Travel Pilot</a:t>
            </a:r>
          </a:p>
          <a:p>
            <a:r>
              <a:rPr lang="en-US" sz="2200" dirty="0"/>
              <a:t>Mason Butler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80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738E-5553-F9E9-199A-327CC7DF5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Scrum-Agile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87D9E-1AC5-DAC0-FE7A-E7AB47BF8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Owner – Maximizes product value</a:t>
            </a:r>
          </a:p>
          <a:p>
            <a:r>
              <a:rPr lang="en-US" dirty="0"/>
              <a:t>Scrum Master – Facilitates Scrum &amp; removes impediments</a:t>
            </a:r>
          </a:p>
          <a:p>
            <a:r>
              <a:rPr lang="en-US" dirty="0"/>
              <a:t>Developers – Deliver working increments</a:t>
            </a:r>
          </a:p>
        </p:txBody>
      </p:sp>
    </p:spTree>
    <p:extLst>
      <p:ext uri="{BB962C8B-B14F-4D97-AF65-F5344CB8AC3E}">
        <p14:creationId xmlns:p14="http://schemas.microsoft.com/office/powerpoint/2010/main" val="462582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E12FF-7409-9914-3833-3B4A54D4A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SDLC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9DB96-1DAF-5652-C9D8-CEB86A4C9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 &amp; Backlog Creation</a:t>
            </a:r>
          </a:p>
          <a:p>
            <a:r>
              <a:rPr lang="en-US" dirty="0"/>
              <a:t>Sprint Planning</a:t>
            </a:r>
          </a:p>
          <a:p>
            <a:r>
              <a:rPr lang="en-US" dirty="0"/>
              <a:t>Iterative Development &amp; Testing</a:t>
            </a:r>
          </a:p>
          <a:p>
            <a:r>
              <a:rPr lang="en-US" dirty="0"/>
              <a:t>Sprint Review</a:t>
            </a:r>
          </a:p>
          <a:p>
            <a:r>
              <a:rPr lang="en-US" dirty="0"/>
              <a:t>Retrospective</a:t>
            </a:r>
          </a:p>
          <a:p>
            <a:r>
              <a:rPr lang="en-US" dirty="0"/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12815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DAFA-D466-579C-92F0-972B9FACF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vs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BD24C-8B8C-5557-0B36-F8BE56840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Waterfall</a:t>
            </a:r>
          </a:p>
          <a:p>
            <a:r>
              <a:rPr lang="en-US" dirty="0"/>
              <a:t>Sequential phases</a:t>
            </a:r>
          </a:p>
          <a:p>
            <a:r>
              <a:rPr lang="en-US" dirty="0"/>
              <a:t>Requirements fixed early</a:t>
            </a:r>
          </a:p>
          <a:p>
            <a:r>
              <a:rPr lang="en-US" dirty="0"/>
              <a:t>Testing occurs late</a:t>
            </a:r>
          </a:p>
          <a:p>
            <a:pPr marL="0" indent="0">
              <a:buNone/>
            </a:pPr>
            <a:r>
              <a:rPr lang="en-US" b="1" dirty="0"/>
              <a:t>Agile</a:t>
            </a:r>
          </a:p>
          <a:p>
            <a:r>
              <a:rPr lang="en-US" dirty="0"/>
              <a:t>Iterative cycles</a:t>
            </a:r>
          </a:p>
          <a:p>
            <a:r>
              <a:rPr lang="en-US" dirty="0"/>
              <a:t>Continuous feedback</a:t>
            </a:r>
          </a:p>
          <a:p>
            <a:r>
              <a:rPr lang="en-US" dirty="0"/>
              <a:t>Testing integrated </a:t>
            </a:r>
            <a:r>
              <a:rPr lang="en-US" dirty="0" err="1"/>
              <a:t>throoughout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4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98BA3-0D55-E676-4F1F-E6D0EE428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right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1B508-F64D-4475-5697-345D7986B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Consider:</a:t>
            </a:r>
          </a:p>
          <a:p>
            <a:r>
              <a:rPr lang="en-US" dirty="0"/>
              <a:t>Requirement Stability</a:t>
            </a:r>
          </a:p>
          <a:p>
            <a:r>
              <a:rPr lang="en-US" dirty="0"/>
              <a:t>Stakeholder Involvement</a:t>
            </a:r>
          </a:p>
          <a:p>
            <a:r>
              <a:rPr lang="en-US" dirty="0"/>
              <a:t>Risk Tolerance</a:t>
            </a:r>
          </a:p>
          <a:p>
            <a:r>
              <a:rPr lang="en-US" dirty="0"/>
              <a:t>Regulatory Constraints</a:t>
            </a:r>
          </a:p>
        </p:txBody>
      </p:sp>
    </p:spTree>
    <p:extLst>
      <p:ext uri="{BB962C8B-B14F-4D97-AF65-F5344CB8AC3E}">
        <p14:creationId xmlns:p14="http://schemas.microsoft.com/office/powerpoint/2010/main" val="65694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F517-5532-F88D-F47A-4D777B265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09270-A6AF-A106-E608-8DD57FC26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Scrum-Agile improved adaptability</a:t>
            </a:r>
          </a:p>
          <a:p>
            <a:r>
              <a:rPr lang="en-US" dirty="0"/>
              <a:t>Encouraged collaboration</a:t>
            </a:r>
          </a:p>
          <a:p>
            <a:r>
              <a:rPr lang="en-US" dirty="0"/>
              <a:t>Increased transparency</a:t>
            </a:r>
          </a:p>
          <a:p>
            <a:r>
              <a:rPr lang="en-US" dirty="0"/>
              <a:t>Delivered incremental value</a:t>
            </a:r>
          </a:p>
        </p:txBody>
      </p:sp>
    </p:spTree>
    <p:extLst>
      <p:ext uri="{BB962C8B-B14F-4D97-AF65-F5344CB8AC3E}">
        <p14:creationId xmlns:p14="http://schemas.microsoft.com/office/powerpoint/2010/main" val="3864579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0939-56BA-C615-33C6-B114E01BD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54A9C-39BE-943A-3A0A-126C25D56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Kerzner, H. (2022). Project management: A systems approach to planning, scheduling, and controlling (13th ed.). Wiley.</a:t>
            </a:r>
          </a:p>
          <a:p>
            <a:r>
              <a:rPr lang="en-US" dirty="0"/>
              <a:t>Project Management Institute. (2021). Agile practice guide. PMI.</a:t>
            </a:r>
          </a:p>
          <a:p>
            <a:r>
              <a:rPr lang="en-US" dirty="0"/>
              <a:t>Rigby, D. K., Sutherland, J., &amp; Takeuchi, H. (2020). Embracing agile. Harvard Business Review, 98(3), 40–50.</a:t>
            </a:r>
          </a:p>
          <a:p>
            <a:r>
              <a:rPr lang="en-US" dirty="0"/>
              <a:t>Schwaber, K., &amp; Sutherland, J. (2020). The Scrum Guide. Scrum.org.</a:t>
            </a:r>
          </a:p>
          <a:p>
            <a:r>
              <a:rPr lang="en-US" dirty="0"/>
              <a:t>VersionOne. (2021). 15th annual state of agile report. Digital.ai.</a:t>
            </a:r>
          </a:p>
        </p:txBody>
      </p:sp>
    </p:spTree>
    <p:extLst>
      <p:ext uri="{BB962C8B-B14F-4D97-AF65-F5344CB8AC3E}">
        <p14:creationId xmlns:p14="http://schemas.microsoft.com/office/powerpoint/2010/main" val="68836904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4DFABAB42D7458FB0373949A86C66" ma:contentTypeVersion="5" ma:contentTypeDescription="Create a new document." ma:contentTypeScope="" ma:versionID="15445f07cbb027918f47eef9a3be93e3">
  <xsd:schema xmlns:xsd="http://www.w3.org/2001/XMLSchema" xmlns:xs="http://www.w3.org/2001/XMLSchema" xmlns:p="http://schemas.microsoft.com/office/2006/metadata/properties" xmlns:ns3="2d56be52-6797-477f-a180-a3b04aec7f35" targetNamespace="http://schemas.microsoft.com/office/2006/metadata/properties" ma:root="true" ma:fieldsID="b5fdce295ca6c95e54f7648e1a7527e4" ns3:_="">
    <xsd:import namespace="2d56be52-6797-477f-a180-a3b04aec7f3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56be52-6797-477f-a180-a3b04aec7f3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9308EC9-E85C-4351-95D9-BA3B2531F2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56be52-6797-477f-a180-a3b04aec7f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FB6F03F-8F84-46B3-ABE3-983F9498BA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38DEEA-F299-4BEB-BC0C-3DD65C210D95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2d56be52-6797-477f-a180-a3b04aec7f35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335</Words>
  <Application>Microsoft Office PowerPoint</Application>
  <PresentationFormat>Widescreen</PresentationFormat>
  <Paragraphs>52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Calisto MT</vt:lpstr>
      <vt:lpstr>Univers Condensed</vt:lpstr>
      <vt:lpstr>ChronicleVTI</vt:lpstr>
      <vt:lpstr>Was Scrum-agile worth it?</vt:lpstr>
      <vt:lpstr>Scrum-Agile roles</vt:lpstr>
      <vt:lpstr>Agile SDLC Phases</vt:lpstr>
      <vt:lpstr>Waterfall vs Agile</vt:lpstr>
      <vt:lpstr>Choosing the right Approach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BUTLER, MASON</dc:creator>
  <cp:lastModifiedBy>BUTLER, MASON</cp:lastModifiedBy>
  <cp:revision>1</cp:revision>
  <dcterms:created xsi:type="dcterms:W3CDTF">2026-02-22T21:28:42Z</dcterms:created>
  <dcterms:modified xsi:type="dcterms:W3CDTF">2026-02-22T21:42:25Z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0x010100AFE4DFABAB42D7458FB0373949A86C66</vt:lpwstr>
  </property>
</Properties>
</file>